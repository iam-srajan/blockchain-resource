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2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05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3A2A1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E8710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9144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352617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070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1261872"/>
            <a:ext cx="256032" cy="201168"/>
          </a:xfrm>
          <a:prstGeom prst="rightArrow">
            <a:avLst/>
          </a:prstGeom>
          <a:solidFill>
            <a:srgbClr val="E8710C"/>
          </a:solidFill>
          <a:ln/>
        </p:spPr>
      </p:sp>
      <p:sp>
        <p:nvSpPr>
          <p:cNvPr id="7" name="Shape 5"/>
          <p:cNvSpPr/>
          <p:nvPr/>
        </p:nvSpPr>
        <p:spPr>
          <a:xfrm>
            <a:off x="2148840" y="9144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352617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070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61872"/>
            <a:ext cx="256032" cy="201168"/>
          </a:xfrm>
          <a:prstGeom prst="rightArrow">
            <a:avLst/>
          </a:prstGeom>
          <a:solidFill>
            <a:srgbClr val="E8710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9144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352617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20700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FUNDAMENTALS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Blockchain &amp;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Digital Currency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 to digital money, blockchain, and how decentralized networks 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Digital Currency?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that exists only in electronic form — stored and transferred through computers, phones, or digital wallets instead of physical notes and coins.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send and receive money fast and conveniently, without physical cash.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6850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931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that is represented and used entirely in digital form.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645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892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digital wallets, bank systems, payment apps, or blockchain networks.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1417320"/>
            <a:ext cx="5074920" cy="4709160"/>
          </a:xfrm>
          <a:prstGeom prst="roundRect">
            <a:avLst>
              <a:gd name="adj" fmla="val 2330"/>
            </a:avLst>
          </a:prstGeom>
          <a:solidFill>
            <a:srgbClr val="FDF1E6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EXAMPLE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Rahul sends ₹500 to Amit — digitally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03720" y="2788920"/>
            <a:ext cx="384048" cy="38404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28072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has ₹500 in his digital wallet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03720" y="3355848"/>
            <a:ext cx="384048" cy="38404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2360" y="337413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sends ₹500 using a digital payment system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03720" y="3922776"/>
            <a:ext cx="384048" cy="38404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394106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receives ₹500 digitally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903720" y="4489704"/>
            <a:ext cx="384048" cy="38404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4489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450799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cash changes hands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03720" y="5102352"/>
            <a:ext cx="4343400" cy="0"/>
          </a:xfrm>
          <a:prstGeom prst="line">
            <a:avLst/>
          </a:prstGeom>
          <a:noFill/>
          <a:ln w="19050">
            <a:solidFill>
              <a:srgbClr val="FBDD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5239512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digital currency is not the same as cryptocurrency — crypto is one type of digital currency that uses cryptography and blockchain.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OPTIONS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Types of Digital Currency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Cryptocurrency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2971800" cy="0"/>
          </a:xfrm>
          <a:prstGeom prst="line">
            <a:avLst/>
          </a:prstGeom>
          <a:noFill/>
          <a:ln w="12700">
            <a:solidFill>
              <a:srgbClr val="FBDD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r>
              <a:rPr lang="en-US" sz="12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network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money without a central authority; transactions verified by many computers.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4630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DF1E6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783080"/>
            <a:ext cx="594360" cy="59436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CBDC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54880" y="299923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Rupee (e₹)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2971800" cy="0"/>
          </a:xfrm>
          <a:prstGeom prst="line">
            <a:avLst/>
          </a:prstGeom>
          <a:noFill/>
          <a:ln w="12700">
            <a:solidFill>
              <a:srgbClr val="FBDD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5661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r>
              <a:rPr lang="en-US" sz="12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version of a country's official currency, issued by its central bank.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4630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1080" y="1783080"/>
            <a:ext cx="594360" cy="59436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22" name="Text 20"/>
          <p:cNvSpPr/>
          <p:nvPr/>
        </p:nvSpPr>
        <p:spPr>
          <a:xfrm>
            <a:off x="86410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4108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Stablecoin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641080" y="299923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(Tether)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41080" y="3429000"/>
            <a:ext cx="2971800" cy="0"/>
          </a:xfrm>
          <a:prstGeom prst="line">
            <a:avLst/>
          </a:prstGeom>
          <a:noFill/>
          <a:ln w="12700">
            <a:solidFill>
              <a:srgbClr val="FBDD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35661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by: </a:t>
            </a:r>
            <a:r>
              <a:rPr lang="en-US" sz="12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/ protocol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0" y="41148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designed to hold a stable value, often tracking the US dollar.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 </a:t>
            </a:r>
            <a:r>
              <a:rPr lang="en-US" sz="1300" i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→ Decentralized   |   Digital Rupee → Central Bank   |   USDT → Stable Value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 CONTROL?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Does Decentralized Mean?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person, company, or organization controls the entire system — control is shared across many participants.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DF1E6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— A BANK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83180" y="283464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8710C"/>
          </a:solidFill>
          <a:ln/>
        </p:spPr>
      </p:sp>
      <p:sp>
        <p:nvSpPr>
          <p:cNvPr id="8" name="Text 6"/>
          <p:cNvSpPr/>
          <p:nvPr/>
        </p:nvSpPr>
        <p:spPr>
          <a:xfrm>
            <a:off x="2583180" y="2834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34540" y="3383280"/>
            <a:ext cx="1188720" cy="502920"/>
          </a:xfrm>
          <a:prstGeom prst="line">
            <a:avLst/>
          </a:prstGeom>
          <a:noFill/>
          <a:ln w="15875">
            <a:solidFill>
              <a:srgbClr val="E871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68780" y="3886200"/>
            <a:ext cx="7315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878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3260" y="3383280"/>
            <a:ext cx="9144" cy="502920"/>
          </a:xfrm>
          <a:prstGeom prst="line">
            <a:avLst/>
          </a:prstGeom>
          <a:noFill/>
          <a:ln w="15875">
            <a:solidFill>
              <a:srgbClr val="E871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7500" y="3886200"/>
            <a:ext cx="7315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750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23260" y="3383280"/>
            <a:ext cx="1188720" cy="502920"/>
          </a:xfrm>
          <a:prstGeom prst="line">
            <a:avLst/>
          </a:prstGeom>
          <a:noFill/>
          <a:ln w="15875">
            <a:solidFill>
              <a:srgbClr val="E87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6220" y="3886200"/>
            <a:ext cx="73152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622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572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maintains and controls the one central record. It alone can approve or block a transaction.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440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authority = Centralized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0574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241C1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33172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— BITCOIN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3063240"/>
            <a:ext cx="2011680" cy="9144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6812280" y="3063240"/>
            <a:ext cx="36576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3063240"/>
            <a:ext cx="100584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8183880" y="3063240"/>
            <a:ext cx="100584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3063240"/>
            <a:ext cx="36576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977640"/>
            <a:ext cx="1371600" cy="9144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77640"/>
            <a:ext cx="1371600" cy="9144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3977640"/>
            <a:ext cx="36576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7178040" y="3977640"/>
            <a:ext cx="100584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977640"/>
            <a:ext cx="100584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9189720" y="3977640"/>
            <a:ext cx="365760" cy="914400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78040" y="4892040"/>
            <a:ext cx="2011680" cy="9144"/>
          </a:xfrm>
          <a:prstGeom prst="line">
            <a:avLst/>
          </a:prstGeom>
          <a:noFill/>
          <a:ln w="12700">
            <a:solidFill>
              <a:srgbClr val="5A46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31736" y="29169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5" name="Shape 33"/>
          <p:cNvSpPr/>
          <p:nvPr/>
        </p:nvSpPr>
        <p:spPr>
          <a:xfrm>
            <a:off x="9043416" y="29169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6665976" y="38313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7" name="Shape 35"/>
          <p:cNvSpPr/>
          <p:nvPr/>
        </p:nvSpPr>
        <p:spPr>
          <a:xfrm>
            <a:off x="8037576" y="38313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8" name="Shape 36"/>
          <p:cNvSpPr/>
          <p:nvPr/>
        </p:nvSpPr>
        <p:spPr>
          <a:xfrm>
            <a:off x="9409176" y="38313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39" name="Shape 37"/>
          <p:cNvSpPr/>
          <p:nvPr/>
        </p:nvSpPr>
        <p:spPr>
          <a:xfrm>
            <a:off x="7031736" y="47457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40" name="Shape 38"/>
          <p:cNvSpPr/>
          <p:nvPr/>
        </p:nvSpPr>
        <p:spPr>
          <a:xfrm>
            <a:off x="9043416" y="4745736"/>
            <a:ext cx="292608" cy="292608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41" name="Text 39"/>
          <p:cNvSpPr/>
          <p:nvPr/>
        </p:nvSpPr>
        <p:spPr>
          <a:xfrm>
            <a:off x="6583680" y="52578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computers (nodes) verify and maintain the network together. No single company controls it.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83680" y="5852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participants = Decentralized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Blockchain?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DF1E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digital ledger where records are stored in blocks, and the blocks are linked together using cryptographic hashes.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7884" y="30175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8" name="Text 6"/>
          <p:cNvSpPr/>
          <p:nvPr/>
        </p:nvSpPr>
        <p:spPr>
          <a:xfrm>
            <a:off x="1357884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book of transactions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16352" y="278892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5596" y="30175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3" name="Text 11"/>
          <p:cNvSpPr/>
          <p:nvPr/>
        </p:nvSpPr>
        <p:spPr>
          <a:xfrm>
            <a:off x="3625596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53512" y="39319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group/container of records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84064" y="278892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3308" y="30175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8" name="Text 16"/>
          <p:cNvSpPr/>
          <p:nvPr/>
        </p:nvSpPr>
        <p:spPr>
          <a:xfrm>
            <a:off x="5893308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75504" y="3657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21224" y="39319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fingerprint of 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51776" y="278892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61020" y="30175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23" name="Text 21"/>
          <p:cNvSpPr/>
          <p:nvPr/>
        </p:nvSpPr>
        <p:spPr>
          <a:xfrm>
            <a:off x="81610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43216" y="3657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88936" y="39319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participating in the chain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19488" y="278892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28732" y="3017520"/>
            <a:ext cx="502920" cy="50292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8732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10928" y="3657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56648" y="393192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used to agree on valid updates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useful whenever multiple participants need a shared record they can all verify — for example, several companies tracking one supply chain.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 Blockchain = Shared Ledger + Blocks + Hashes + Network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Blocks Get Linked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E6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64" y="1783080"/>
            <a:ext cx="182880" cy="228600"/>
          </a:xfrm>
          <a:prstGeom prst="rightArrow">
            <a:avLst/>
          </a:prstGeom>
          <a:solidFill>
            <a:srgbClr val="B85406"/>
          </a:solidFill>
          <a:ln/>
        </p:spPr>
      </p:sp>
      <p:sp>
        <p:nvSpPr>
          <p:cNvPr id="7" name="Shape 5"/>
          <p:cNvSpPr/>
          <p:nvPr/>
        </p:nvSpPr>
        <p:spPr>
          <a:xfrm>
            <a:off x="2761488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E6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82312" y="1783080"/>
            <a:ext cx="182880" cy="228600"/>
          </a:xfrm>
          <a:prstGeom prst="rightArrow">
            <a:avLst/>
          </a:prstGeom>
          <a:solidFill>
            <a:srgbClr val="B85406"/>
          </a:solidFill>
          <a:ln/>
        </p:spPr>
      </p:sp>
      <p:sp>
        <p:nvSpPr>
          <p:cNvPr id="10" name="Shape 8"/>
          <p:cNvSpPr/>
          <p:nvPr/>
        </p:nvSpPr>
        <p:spPr>
          <a:xfrm>
            <a:off x="4974336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E6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a block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95160" y="1783080"/>
            <a:ext cx="182880" cy="228600"/>
          </a:xfrm>
          <a:prstGeom prst="rightArrow">
            <a:avLst/>
          </a:prstGeom>
          <a:solidFill>
            <a:srgbClr val="B85406"/>
          </a:solidFill>
          <a:ln/>
        </p:spPr>
      </p:sp>
      <p:sp>
        <p:nvSpPr>
          <p:cNvPr id="13" name="Shape 11"/>
          <p:cNvSpPr/>
          <p:nvPr/>
        </p:nvSpPr>
        <p:spPr>
          <a:xfrm>
            <a:off x="7187184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E6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2904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gets a hash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08008" y="1783080"/>
            <a:ext cx="182880" cy="228600"/>
          </a:xfrm>
          <a:prstGeom prst="rightArrow">
            <a:avLst/>
          </a:prstGeom>
          <a:solidFill>
            <a:srgbClr val="B85406"/>
          </a:solidFill>
          <a:ln/>
        </p:spPr>
      </p:sp>
      <p:sp>
        <p:nvSpPr>
          <p:cNvPr id="16" name="Shape 14"/>
          <p:cNvSpPr/>
          <p:nvPr/>
        </p:nvSpPr>
        <p:spPr>
          <a:xfrm>
            <a:off x="9400032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8710C"/>
          </a:solidFill>
          <a:ln w="12700">
            <a:solidFill>
              <a:srgbClr val="FBDD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1508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Example: A Simple Three-Block Chain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241C14"/>
          </a:solidFill>
          <a:ln w="19050">
            <a:solidFill>
              <a:srgbClr val="E87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41071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813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pays Bob ₹100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2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ABC123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67912" y="4091940"/>
            <a:ext cx="365760" cy="274320"/>
          </a:xfrm>
          <a:prstGeom prst="rightArrow">
            <a:avLst/>
          </a:prstGeom>
          <a:solidFill>
            <a:srgbClr val="E8710C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2461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241C14"/>
          </a:solidFill>
          <a:ln w="19050">
            <a:solidFill>
              <a:srgbClr val="E87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41071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3813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pays Charlie ₹50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389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ABC123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2628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2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DEF456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16952" y="4091940"/>
            <a:ext cx="365760" cy="274320"/>
          </a:xfrm>
          <a:prstGeom prst="rightArrow">
            <a:avLst/>
          </a:prstGeom>
          <a:solidFill>
            <a:srgbClr val="E8710C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3246120"/>
            <a:ext cx="3246120" cy="1965960"/>
          </a:xfrm>
          <a:prstGeom prst="roundRect">
            <a:avLst>
              <a:gd name="adj" fmla="val 4651"/>
            </a:avLst>
          </a:prstGeom>
          <a:solidFill>
            <a:srgbClr val="241C14"/>
          </a:solidFill>
          <a:ln w="19050">
            <a:solidFill>
              <a:srgbClr val="E871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341071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75320" y="38130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pays David ₹20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75320" y="43891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Hash: </a:t>
            </a:r>
            <a:r>
              <a:rPr lang="en-US" sz="11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DEF456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47091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2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XYZ789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Block 1's data changes, its hash changes too — and Block 2 no longer matches, revealing the tampering.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Was Blockchain Created?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3526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630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double-spending problem:  </a:t>
            </a:r>
            <a:r>
              <a:rPr lang="en-US" sz="14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information is easy to copy — so how do you stop someone from spending the same digital money twice?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2E231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71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44311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42900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959352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44311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59352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89704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44311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48970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Bank's central database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020056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44311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20056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566013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alone maintains the authoritative record.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74320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971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NETWORK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429000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87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429000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created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959352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8710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959352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the network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4489704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8710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4489704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verify &amp; agree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5020056"/>
            <a:ext cx="4709160" cy="438912"/>
          </a:xfrm>
          <a:prstGeom prst="roundRect">
            <a:avLst>
              <a:gd name="adj" fmla="val 12500"/>
            </a:avLst>
          </a:prstGeom>
          <a:solidFill>
            <a:srgbClr val="E8710C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020056"/>
            <a:ext cx="4709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a block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566013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C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participants jointly verify the ledger — no single controller.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Blockchain vs. Traditional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41C14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0" y="1554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0" y="1554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solidFill>
            <a:srgbClr val="FDF1E6"/>
          </a:solidFill>
          <a:ln w="9525">
            <a:solidFill>
              <a:srgbClr val="FBD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21031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one organization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participants / network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BDD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880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 day-to-day data operations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trust &amp; tamper-evident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777240"/>
          </a:xfrm>
          <a:prstGeom prst="rect">
            <a:avLst/>
          </a:prstGeom>
          <a:solidFill>
            <a:srgbClr val="FDF1E6"/>
          </a:solidFill>
          <a:ln w="9525">
            <a:solidFill>
              <a:srgbClr val="FBDD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3657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employee 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657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ledger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BDD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34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point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17520" y="44348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central point of control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4434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 or failure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isn't automatically "better" — choose the technology based on the problem you're solving.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4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Terminology —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64208"/>
            <a:ext cx="411480" cy="41148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transactions or records stored together — a box of transactions.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64208"/>
            <a:ext cx="411480" cy="41148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2128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value from data, acting as a digital fingerprint. Change the data, and the hash changes.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664208"/>
            <a:ext cx="411480" cy="41148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64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96528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Previous Hash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2128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that connects a block to the one before it, forming the chain.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DF1E6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93008"/>
            <a:ext cx="411480" cy="41148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98448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Genesis Block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0416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block in a blockchain — the beginning of the chain.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2918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DF1E6"/>
          </a:solidFill>
          <a:ln w="15875">
            <a:solidFill>
              <a:srgbClr val="FBDD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493008"/>
            <a:ext cx="411480" cy="411480"/>
          </a:xfrm>
          <a:prstGeom prst="ellipse">
            <a:avLst/>
          </a:prstGeom>
          <a:solidFill>
            <a:srgbClr val="FBDDBB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540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47488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C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04164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that participates in maintaining the blockchain network.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138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13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currency is money that exists and moves electronically instead of as physical cash.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6138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13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Crypto, CBDCs, and stablecoins are different types — they differ in who controls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7014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701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20040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shared digital ledger: blocks of records linked by cryptographic hashes.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06324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47014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4701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emerged to solve the double-spending problem in digital transactions.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7890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789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7091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one type of DLT — useful for multi-party trust, not a database replacement.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57200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2E2317"/>
          </a:solidFill>
          <a:ln w="12700">
            <a:solidFill>
              <a:srgbClr val="E871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978908"/>
            <a:ext cx="512064" cy="512064"/>
          </a:xfrm>
          <a:prstGeom prst="ellipse">
            <a:avLst/>
          </a:prstGeom>
          <a:solidFill>
            <a:srgbClr val="E8710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9789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7091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= one controller. Decentralized = shared control. Distributed = spread-out resources.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Digital Currency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958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Srajan shukla</cp:lastModifiedBy>
  <cp:revision>2</cp:revision>
  <dcterms:created xsi:type="dcterms:W3CDTF">2026-08-12T20:47:09Z</dcterms:created>
  <dcterms:modified xsi:type="dcterms:W3CDTF">2026-08-13T14:26:49Z</dcterms:modified>
</cp:coreProperties>
</file>